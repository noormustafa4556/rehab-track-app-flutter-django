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COMPREHENSIVE FEASIBILITY REPORT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Clinical Data &amp; Rehabilitation Management Platform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E9FC7"/>
                </a:solidFill>
              </a:rPr>
              <a:t>Web Platform  •  Native Android App  •  AI Clinical Analytics  •  AI &amp; Dynamic Scheduling  •  Multi-Channel WhatsApp Booking  •  Anomaly Detection &amp; Security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CC"/>
                </a:solidFill>
              </a:rPr>
              <a:t>Prepared for AL-Nafay E-Services   | 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141732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Executive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Project Scope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Technical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Integration Feasibility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489204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Infrastructure &amp; Hardware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4476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34556" y="141732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UI/UX Approach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4476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34556" y="228600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Implementation Timeline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4476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34556" y="315468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Cost Estimation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4476" y="3977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34556" y="402336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Risk Assessment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4476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34556" y="4892040"/>
            <a:ext cx="47228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Recommendations &amp; Conclusion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Feasible, Phased Path to a Unified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626"/>
                </a:solidFill>
              </a:rPr>
              <a:t>A single backend can power a responsive website, a native Android app, dual dashboards, and three synchronized booking channels — using mature, cost-effective technology on commodity infrastructure. AI analytics and scheduling are layered in as clinical data accumulates.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8878" cy="3017520"/>
          </a:xfrm>
          <a:prstGeom prst="roundRect">
            <a:avLst>
              <a:gd name="adj" fmla="val 3660"/>
            </a:avLst>
          </a:prstGeom>
          <a:solidFill>
            <a:srgbClr val="F4F7F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51760"/>
            <a:ext cx="172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TECHNICAL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17245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Feasible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17245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85"/>
                </a:solidFill>
              </a:rPr>
              <a:t>Mature web, mobile, WhatsApp &amp; AI tooling available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21838" y="2468880"/>
            <a:ext cx="1998878" cy="3017520"/>
          </a:xfrm>
          <a:prstGeom prst="roundRect">
            <a:avLst>
              <a:gd name="adj" fmla="val 3660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2958998" y="2651760"/>
            <a:ext cx="172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OPERATIONAL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58998" y="3154680"/>
            <a:ext cx="17245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Feasible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8998" y="4114800"/>
            <a:ext cx="17245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85"/>
                </a:solidFill>
              </a:rPr>
              <a:t>Needs training + phased pilot rollout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95037" y="2468880"/>
            <a:ext cx="1998878" cy="3017520"/>
          </a:xfrm>
          <a:prstGeom prst="roundRect">
            <a:avLst>
              <a:gd name="adj" fmla="val 3660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5232197" y="2651760"/>
            <a:ext cx="172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ECONOMIC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32197" y="3154680"/>
            <a:ext cx="17245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Feasible (phased)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32197" y="4114800"/>
            <a:ext cx="17245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85"/>
                </a:solidFill>
              </a:rPr>
              <a:t>MVP-first approach controls upfront cost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68235" y="2468880"/>
            <a:ext cx="1998878" cy="3017520"/>
          </a:xfrm>
          <a:prstGeom prst="roundRect">
            <a:avLst>
              <a:gd name="adj" fmla="val 3660"/>
            </a:avLst>
          </a:prstGeom>
          <a:solidFill>
            <a:srgbClr val="F4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7505395" y="2651760"/>
            <a:ext cx="172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SECURITY/COMPLIANCE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05395" y="3154680"/>
            <a:ext cx="17245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Feasible with controls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05395" y="4114800"/>
            <a:ext cx="17245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85"/>
                </a:solidFill>
              </a:rPr>
              <a:t>Encryption, RBAC, anomaly detection built-in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41434" y="2468880"/>
            <a:ext cx="1998878" cy="3017520"/>
          </a:xfrm>
          <a:prstGeom prst="roundRect">
            <a:avLst>
              <a:gd name="adj" fmla="val 3660"/>
            </a:avLst>
          </a:prstGeom>
          <a:solidFill>
            <a:srgbClr val="F4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9778594" y="2651760"/>
            <a:ext cx="17245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SCHEDULE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78594" y="3154680"/>
            <a:ext cx="172455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8–10 wks MVP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78594" y="4114800"/>
            <a:ext cx="172455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385"/>
                </a:solidFill>
              </a:rPr>
              <a:t>Full platform in 6–7 months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Functional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7178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8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Clinical &amp; Operational Core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Centralized patient records &amp; rehab plans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06324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Longitudinal tracking of assessments &amp;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406908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Automated cycle reporting (daily → yearly)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371600"/>
            <a:ext cx="2567178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81578" y="1371600"/>
            <a:ext cx="238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Intelligence 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35858" y="205740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AI clinical analytics &amp; plateau-risk detection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35858" y="306324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AI &amp; dynamic scheduling optimization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35858" y="406908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28090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Trend-based forecasting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1636" y="1371600"/>
            <a:ext cx="2567178" cy="502920"/>
          </a:xfrm>
          <a:prstGeom prst="roundRect">
            <a:avLst>
              <a:gd name="adj" fmla="val 10909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323076" y="1371600"/>
            <a:ext cx="238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Experience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7356" y="205740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A896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Patient &amp; management dashboards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77356" y="306324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A896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Responsive website + native Android 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77356" y="406908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A896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Professional, English-first, multilingual-ready UI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3134" y="1371600"/>
            <a:ext cx="2567178" cy="502920"/>
          </a:xfrm>
          <a:prstGeom prst="roundRect">
            <a:avLst>
              <a:gd name="adj" fmla="val 10909"/>
            </a:avLst>
          </a:prstGeom>
          <a:solidFill>
            <a:srgbClr val="990011"/>
          </a:solidFill>
          <a:ln/>
        </p:spPr>
      </p:sp>
      <p:sp>
        <p:nvSpPr>
          <p:cNvPr id="20" name="Text 18"/>
          <p:cNvSpPr/>
          <p:nvPr/>
        </p:nvSpPr>
        <p:spPr>
          <a:xfrm>
            <a:off x="9164574" y="1371600"/>
            <a:ext cx="23842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Booking &amp; Security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18854" y="205740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99001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WhatsApp chat + WhatsApp AI agent + online booking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18854" y="306324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99001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Real-time conflict-free synchronization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18854" y="4069080"/>
            <a:ext cx="24757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990011"/>
                </a:solidFill>
              </a:rPr>
              <a:t>•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</a:rPr>
              <a:t>Encryption, RBAC &amp; continuous anomaly detection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Data Flow</a:t>
            </a:r>
            <a:endParaRPr lang="en-US" sz="3000" dirty="0"/>
          </a:p>
        </p:txBody>
      </p:sp>
      <p:pic>
        <p:nvPicPr>
          <p:cNvPr id="4" name="Image 0" descr="/home/claude/report2/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1088136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PLATFORM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Technology Stack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93776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754880"/>
              </a:tblGrid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Website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React / Vue.js, mobile-first responsive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One codebase adapts across desktop, tablet, phone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Android App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Flutter (shared logic with web)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Faster delivery, consistent behavior with website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Backend / API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Node.js or Python (FastAPI)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Mature, well-supported, large talent pool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PostgreSQL + Redis cache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Structured clinical data + fast slot-locking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AI / ML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Python (scikit-learn, time-series libs)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Transparent models first, ML as data accumulates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Messaging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WhatsApp Business Cloud API + LLM agent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Official, compliant channel for chat + AI agent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Hosting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Managed cloud VPS (AWS/Azure/local)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Low-cost, scalable, healthcare-grade options available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FEATURE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vs. Custom-Build Effort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5029200"/>
        </p:xfrm>
        <a:graphic>
          <a:graphicData uri="http://schemas.openxmlformats.org/drawingml/2006/table">
            <a:tbl>
              <a:tblPr/>
              <a:tblGrid>
                <a:gridCol w="5303520"/>
                <a:gridCol w="365760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Build Type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Relative Complexity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Patient records &amp; rehab plans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CRUD + forms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Low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Longitudinal tracking &amp; cycle reports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Standard, custom report templates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Patient / management dashboards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BI + custom visuals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Responsive website + Android app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cross-platform build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Online reservation system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booking UI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Low–Medium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WhatsApp chat + AI agent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API + custom conversation design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Medium–High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Three-channel booking sync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Fully custom coordination logic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AI clinical analytics (prediction, plateau-risk)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Custom ML on clinic-specific data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AI &amp; dynamic scheduling optimizer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Custom optimization engine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Anomaly detection &amp; security layer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Standard tooling + custom rules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</a:rPr>
                        <a:t>Medium–High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7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INTEGRATION FEASIBILITY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Three Booking Channels in Sync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24316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1907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WhatsApp Cloud API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Official Meta channel for chat + AI agent; supports templated &amp; session messaging within compliance rules.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55448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24316E"/>
          </a:solidFill>
          <a:ln/>
        </p:spPr>
      </p:sp>
      <p:sp>
        <p:nvSpPr>
          <p:cNvPr id="8" name="Text 6"/>
          <p:cNvSpPr/>
          <p:nvPr/>
        </p:nvSpPr>
        <p:spPr>
          <a:xfrm>
            <a:off x="6460236" y="171907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Central Booking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0236" y="219456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Every channel calls the same slot-locking service — no channel books directly against its own copy of the calendar.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24316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0507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Real-Time Conflict Resolution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First confirmed request wins; other channels are updated within seconds to prevent double-booking.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1636" y="384048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24316E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400507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</a:rPr>
              <a:t>AI Scheduling Feed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0236" y="448056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The optimizer consumes live bookings from all channels, so clinician/room allocation reflects true demand.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HARDWARE &amp; INFRASTRUCTURE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Low-Cost, Healthcare-Ready Infrastructure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297680"/>
        </p:xfrm>
        <a:graphic>
          <a:graphicData uri="http://schemas.openxmlformats.org/drawingml/2006/table">
            <a:tbl>
              <a:tblPr/>
              <a:tblGrid>
                <a:gridCol w="3840480"/>
                <a:gridCol w="5120640"/>
                <a:gridCol w="237744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Recommendation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Approx. Cost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Application hosting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Cloud VPS (2–4 vCPU, 4–8GB RAM to start)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Rs. 5,000–15,000/mo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Database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Managed PostgreSQL with automated backups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Included / Rs. 3,000–8,000/mo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Admin acknowledgement alert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Push notification (browser + mobile app)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Rs. 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Optional desk alert device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ESP32 + buzzer/LED (Wi-Fi)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Rs. 3,000–6,000 one-time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Storage &amp; backups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Encrypted object storage, versioned backups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Rs. 1,000–5,000/mo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Security monitoring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Cloud-native anomaly/intrusion detection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</a:rPr>
                        <a:t>Rs. 5,000–15,000/mo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385"/>
                </a:solidFill>
              </a:rPr>
              <a:t>No specialized on-premise servers are required — the entire platform is designed to run on commodity cloud infrastructure sized to patient volume.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9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UI/UX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Design System, Every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Mobile-First Responsive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Single design system scales from phone to desktop — no separate mobile site to maintain.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31636" y="1463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6460236" y="162763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Consistent Cross-Platform Feel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60236" y="210312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Shared components between website and Android app for a unified, professional look.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1363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Role-Based Workflows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Distinct, simplified views for patients, clinicians, and administrators — each sees only what they need.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1636" y="3749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3913632"/>
            <a:ext cx="49514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Accessibility First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0236" y="4389120"/>
            <a:ext cx="49514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62626"/>
                </a:solidFill>
              </a:rPr>
              <a:t>High-contrast text, readable type sizes, and clear navigation for patients across age groups.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IMPLEMENTATION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Six-Phase Rollout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291840"/>
            <a:ext cx="10360152" cy="0"/>
          </a:xfrm>
          <a:prstGeom prst="line">
            <a:avLst/>
          </a:prstGeom>
          <a:noFill/>
          <a:ln w="38100">
            <a:solidFill>
              <a:srgbClr val="D9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3172968"/>
            <a:ext cx="237744" cy="23774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-45720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Discovery &amp; 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2–3 wks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67558" y="317296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347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26310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MVP: Records, Website, Reservation, Notifications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63470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6–8 wks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9589" y="3172968"/>
            <a:ext cx="237744" cy="23774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35501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98341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Android App + WhatsApp Chat &amp; AI Agent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35501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4–6 wks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11619" y="317296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7531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0371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Dashboards &amp; Automated Cycle Reporting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7531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3–4 wks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83650" y="3172968"/>
            <a:ext cx="237744" cy="23774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9562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42402" y="2148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AI Analytics &amp; AI Scheduling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79562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5–8 wks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155680" y="3172968"/>
            <a:ext cx="237744" cy="23774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515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Phase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14432" y="38862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62626"/>
                </a:solidFill>
              </a:rPr>
              <a:t>Security Hardening, UAT, Training &amp; Go-Live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51592" y="4526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385"/>
                </a:solidFill>
              </a:rPr>
              <a:t>2–3 wks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MVP pilot-ready in 8–10 weeks   •   Full platform in 6–7 months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COST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Investment (PKR)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84632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4023360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Estimated Range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Website + Android app development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550,000 – 1,300,000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One-time; shared codebase reduces cost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Backend, DB, dashboards &amp; reporting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450,000 – 1,000,000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Includes automated cycle reporting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AI analytics &amp; AI scheduling module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350,000 – 1,000,000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Phase 4; scales with model sophistication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WhatsApp API, AI agent &amp; sync engine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150,000 – 400,000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Includes booking-coordination logic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Security &amp; anomaly detection setup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100,000 – 300,000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One-time setup + ongoing monitoring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Cloud hosting &amp; monitoring (annual)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150,000 – 400,000/yr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Scales with patient volume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Maintenance &amp; support (annual)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10–20% of dev cost/yr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dirty="0">
                          <a:solidFill>
                            <a:srgbClr val="262626"/>
                          </a:solidFill>
                        </a:rPr>
                        <a:t>Bug fixes, updates, minor enhancements</a:t>
                      </a:r>
                      <a:endParaRPr lang="en-US" sz="11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RISK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 &amp; Mitigations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4480560"/>
        </p:xfrm>
        <a:graphic>
          <a:graphicData uri="http://schemas.openxmlformats.org/drawingml/2006/table">
            <a:tbl>
              <a:tblPr/>
              <a:tblGrid>
                <a:gridCol w="4206240"/>
                <a:gridCol w="2377440"/>
                <a:gridCol w="4754880"/>
              </a:tblGrid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Booking-channel sync failures under load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Technical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Dedicated workstream, load testing, single source of truth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Low staff adoption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Operational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Phased pilot, hands-on training, simple UI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Patient data privacy breach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Regulatory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Encryption, RBAC, audits, anomaly detection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Poor AI predictions from thin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Technical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Start rule-based; introduce ML after 3–6 months of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Scope creep delaying MVP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Operational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62626"/>
                          </a:solidFill>
                        </a:rPr>
                        <a:t>Fixed MVP scope; AI &amp; advanced features phased later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FAQ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Frequently Asked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Q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627632"/>
            <a:ext cx="46771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Can this run on low-cost hardware?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</a:rPr>
              <a:t>Yes — a modest cloud VPS and free push notifications cover the core requirement.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1636" y="1463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9" name="Text 7"/>
          <p:cNvSpPr/>
          <p:nvPr/>
        </p:nvSpPr>
        <p:spPr>
          <a:xfrm>
            <a:off x="6414516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Q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80276" y="1627632"/>
            <a:ext cx="46771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Will three booking channels confuse patients?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60236" y="2240280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</a:rPr>
              <a:t>No — one sync engine behind all three prevents double-booking automatically.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Q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913632"/>
            <a:ext cx="46771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Is the system really “100% secure”?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</a:rPr>
              <a:t>Treated as a design target: encryption, RBAC, audits &amp; anomaly detection — not an absolute guarantee.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3749040"/>
            <a:ext cx="5408676" cy="201168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6414516" y="3913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Q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80276" y="3913632"/>
            <a:ext cx="46771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Do we need AI on day one?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60236" y="4526280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</a:rPr>
              <a:t>No — MVP first, AI analytics &amp; scheduling added once real clinical data exists.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Move Fast Without Adding Risk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Follow the phased roadmap — MVP first, then app, WhatsApp channels, dashboards, and 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33172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Treat multi-channel booking sync as its own workstream with dedicated testing.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20040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Start AI with transparent, rule-based models; move to ML once real data accumulates.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06908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Use a WhatsApp Business Solution Provider rather than integrating with Meta directly.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Pilot with a single clinic before full rollout to validate workflows under real conditions.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385"/>
                </a:solidFill>
              </a:rPr>
              <a:t>15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Feasible, Achievable, and Ready to Start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</a:rPr>
              <a:t>The proposed platform is technically, operationally, and economically feasible using mature, cost-effective technology. Risk is well understood and manageable provided booking synchronization, phased AI adoption, and security-by-design are treated as first-class priorities from day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01168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Recommended Next Step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99943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Proceed to Phase 0 (Discovery &amp; Architecture) immediately. Confirm patient volume, clinician headcount, and pilot go-live date; finalize the WhatsApp Business Solution Provider; and commission a data-protection review in parallel with early development.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CC"/>
                </a:solidFill>
              </a:rPr>
              <a:t>Clinical Rehab Platform — Feasibility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2026-08-12T06:57:11Z</dcterms:created>
  <dcterms:modified xsi:type="dcterms:W3CDTF">2026-08-12T06:57:11Z</dcterms:modified>
</cp:coreProperties>
</file>